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753600" cy="7315200"/>
  <p:notesSz cx="6858000" cy="9144000"/>
  <p:embeddedFontLst>
    <p:embeddedFont>
      <p:font typeface="Arial MT Pro" panose="020B0604020202020204" charset="0"/>
      <p:regular r:id="rId16"/>
    </p:embeddedFont>
    <p:embeddedFont>
      <p:font typeface="Arial MT Pro Bold" panose="020B0604020202020204" charset="0"/>
      <p:regular r:id="rId17"/>
    </p:embeddedFont>
    <p:embeddedFont>
      <p:font typeface="Calibri (MS)" panose="020B0604020202020204" charset="0"/>
      <p:regular r:id="rId18"/>
    </p:embeddedFont>
    <p:embeddedFont>
      <p:font typeface="Cambria" panose="02040503050406030204" pitchFamily="18" charset="0"/>
      <p:regular r:id="rId19"/>
      <p:bold r:id="rId20"/>
      <p:italic r:id="rId21"/>
      <p:boldItalic r:id="rId22"/>
    </p:embeddedFont>
    <p:embeddedFont>
      <p:font typeface="Times New Roman MT" panose="020B0604020202020204" charset="0"/>
      <p:regular r:id="rId23"/>
    </p:embeddedFont>
    <p:embeddedFont>
      <p:font typeface="Times New Roman MT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159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753600" cy="7315200"/>
            <a:chOff x="0" y="0"/>
            <a:chExt cx="13004800" cy="9753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4800" cy="9753600"/>
            </a:xfrm>
            <a:custGeom>
              <a:avLst/>
              <a:gdLst/>
              <a:ahLst/>
              <a:cxnLst/>
              <a:rect l="l" t="t" r="r" b="b"/>
              <a:pathLst>
                <a:path w="13004800" h="97536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78498" y="131963"/>
            <a:ext cx="6347119" cy="887070"/>
            <a:chOff x="0" y="0"/>
            <a:chExt cx="8462825" cy="11827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62772" cy="1182751"/>
            </a:xfrm>
            <a:custGeom>
              <a:avLst/>
              <a:gdLst/>
              <a:ahLst/>
              <a:cxnLst/>
              <a:rect l="l" t="t" r="r" b="b"/>
              <a:pathLst>
                <a:path w="8462772" h="1182751">
                  <a:moveTo>
                    <a:pt x="0" y="0"/>
                  </a:moveTo>
                  <a:lnTo>
                    <a:pt x="8462772" y="0"/>
                  </a:lnTo>
                  <a:lnTo>
                    <a:pt x="8462772" y="1182751"/>
                  </a:lnTo>
                  <a:lnTo>
                    <a:pt x="0" y="1182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702" b="-770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73079" y="163056"/>
            <a:ext cx="5256595" cy="718400"/>
            <a:chOff x="0" y="0"/>
            <a:chExt cx="7008793" cy="9578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08793" cy="957866"/>
            </a:xfrm>
            <a:custGeom>
              <a:avLst/>
              <a:gdLst/>
              <a:ahLst/>
              <a:cxnLst/>
              <a:rect l="l" t="t" r="r" b="b"/>
              <a:pathLst>
                <a:path w="7008793" h="957866">
                  <a:moveTo>
                    <a:pt x="0" y="0"/>
                  </a:moveTo>
                  <a:lnTo>
                    <a:pt x="7008793" y="0"/>
                  </a:lnTo>
                  <a:lnTo>
                    <a:pt x="7008793" y="957866"/>
                  </a:lnTo>
                  <a:lnTo>
                    <a:pt x="0" y="957866"/>
                  </a:lnTo>
                  <a:close/>
                </a:path>
              </a:pathLst>
            </a:custGeom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7008793" cy="97691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764"/>
                </a:lnSpc>
              </a:pPr>
              <a:r>
                <a:rPr lang="en-US" sz="2558" b="1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MIT School of Computing</a:t>
              </a:r>
            </a:p>
            <a:p>
              <a:pPr algn="l">
                <a:lnSpc>
                  <a:spcPts val="1842"/>
                </a:lnSpc>
              </a:pPr>
              <a:r>
                <a:rPr lang="en-US" sz="1706" b="1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Department of Computer Science &amp; Engineering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33799" y="3453479"/>
            <a:ext cx="686000" cy="401098"/>
            <a:chOff x="0" y="0"/>
            <a:chExt cx="914667" cy="5347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667" cy="534797"/>
            </a:xfrm>
            <a:custGeom>
              <a:avLst/>
              <a:gdLst/>
              <a:ahLst/>
              <a:cxnLst/>
              <a:rect l="l" t="t" r="r" b="b"/>
              <a:pathLst>
                <a:path w="914667" h="534797">
                  <a:moveTo>
                    <a:pt x="0" y="0"/>
                  </a:moveTo>
                  <a:lnTo>
                    <a:pt x="914667" y="0"/>
                  </a:lnTo>
                  <a:lnTo>
                    <a:pt x="914667" y="534797"/>
                  </a:lnTo>
                  <a:lnTo>
                    <a:pt x="0" y="534797"/>
                  </a:lnTo>
                  <a:close/>
                </a:path>
              </a:pathLst>
            </a:custGeom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667" cy="5443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PLD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31520" y="1935278"/>
            <a:ext cx="8158400" cy="4027656"/>
            <a:chOff x="0" y="0"/>
            <a:chExt cx="10877867" cy="537020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877867" cy="5370209"/>
            </a:xfrm>
            <a:custGeom>
              <a:avLst/>
              <a:gdLst/>
              <a:ahLst/>
              <a:cxnLst/>
              <a:rect l="l" t="t" r="r" b="b"/>
              <a:pathLst>
                <a:path w="10877867" h="5370209">
                  <a:moveTo>
                    <a:pt x="0" y="0"/>
                  </a:moveTo>
                  <a:lnTo>
                    <a:pt x="10877867" y="0"/>
                  </a:lnTo>
                  <a:lnTo>
                    <a:pt x="10877867" y="5370209"/>
                  </a:lnTo>
                  <a:lnTo>
                    <a:pt x="0" y="5370209"/>
                  </a:lnTo>
                  <a:close/>
                </a:path>
              </a:pathLst>
            </a:custGeom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0877867" cy="542735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582"/>
                </a:lnSpc>
              </a:pPr>
              <a:r>
                <a:rPr lang="en-US" sz="2985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Forth Year Engineering</a:t>
              </a:r>
            </a:p>
            <a:p>
              <a:pPr algn="ctr">
                <a:lnSpc>
                  <a:spcPts val="1790"/>
                </a:lnSpc>
              </a:pPr>
              <a:endParaRPr lang="en-US" sz="2985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  <a:p>
              <a:pPr algn="ctr">
                <a:lnSpc>
                  <a:spcPts val="2501"/>
                </a:lnSpc>
              </a:pPr>
              <a:r>
                <a:rPr lang="en-US" sz="2086" b="1">
                  <a:solidFill>
                    <a:srgbClr val="CC00CC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NATURAL LANGUAGE PROCESSING · COLLEGE JURY / VIVA PRESENTATION</a:t>
              </a:r>
            </a:p>
            <a:p>
              <a:pPr algn="ctr">
                <a:lnSpc>
                  <a:spcPts val="2383"/>
                </a:lnSpc>
              </a:pPr>
              <a:endParaRPr lang="en-US" sz="2086" b="1">
                <a:solidFill>
                  <a:srgbClr val="CC00CC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  <a:p>
              <a:pPr algn="ctr">
                <a:lnSpc>
                  <a:spcPts val="3582"/>
                </a:lnSpc>
              </a:pPr>
              <a:r>
                <a:rPr lang="en-US" sz="2985" b="1">
                  <a:solidFill>
                    <a:srgbClr val="FF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Class –L.Y. (SEM-7th)</a:t>
              </a:r>
            </a:p>
            <a:p>
              <a:pPr algn="ctr">
                <a:lnSpc>
                  <a:spcPts val="3582"/>
                </a:lnSpc>
              </a:pPr>
              <a:endParaRPr lang="en-US" sz="2985" b="1">
                <a:solidFill>
                  <a:srgbClr val="FF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  <a:p>
              <a:pPr algn="ctr">
                <a:lnSpc>
                  <a:spcPts val="5304"/>
                </a:lnSpc>
              </a:pPr>
              <a:r>
                <a:rPr lang="en-US" sz="2945" b="1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Textbook Chapter Q&amp;A Tutor Bot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397760" y="5342189"/>
            <a:ext cx="4958080" cy="1241491"/>
            <a:chOff x="0" y="0"/>
            <a:chExt cx="6610773" cy="165532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610773" cy="1655321"/>
            </a:xfrm>
            <a:custGeom>
              <a:avLst/>
              <a:gdLst/>
              <a:ahLst/>
              <a:cxnLst/>
              <a:rect l="l" t="t" r="r" b="b"/>
              <a:pathLst>
                <a:path w="6610773" h="1655321">
                  <a:moveTo>
                    <a:pt x="0" y="0"/>
                  </a:moveTo>
                  <a:lnTo>
                    <a:pt x="6610773" y="0"/>
                  </a:lnTo>
                  <a:lnTo>
                    <a:pt x="6610773" y="1655321"/>
                  </a:lnTo>
                  <a:lnTo>
                    <a:pt x="0" y="1655321"/>
                  </a:lnTo>
                  <a:close/>
                </a:path>
              </a:pathLst>
            </a:custGeom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6610773" cy="17124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582"/>
                </a:lnSpc>
              </a:pPr>
              <a:r>
                <a:rPr lang="en-US" sz="2985">
                  <a:solidFill>
                    <a:srgbClr val="CC00CC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AY 2026-2027       </a:t>
              </a:r>
              <a:r>
                <a:rPr lang="en-US" sz="2985" b="1">
                  <a:solidFill>
                    <a:srgbClr val="CC00CC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SEM-7th</a:t>
              </a:r>
            </a:p>
            <a:p>
              <a:pPr algn="l">
                <a:lnSpc>
                  <a:spcPts val="1790"/>
                </a:lnSpc>
              </a:pPr>
              <a:endParaRPr lang="en-US" sz="2985" b="1">
                <a:solidFill>
                  <a:srgbClr val="CC00CC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  <a:p>
              <a:pPr algn="l">
                <a:lnSpc>
                  <a:spcPts val="3582"/>
                </a:lnSpc>
              </a:pPr>
              <a:endParaRPr lang="en-US" sz="2985" b="1">
                <a:solidFill>
                  <a:srgbClr val="CC00CC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753600" cy="7315200"/>
            <a:chOff x="0" y="0"/>
            <a:chExt cx="13004800" cy="9753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4800" cy="9753600"/>
            </a:xfrm>
            <a:custGeom>
              <a:avLst/>
              <a:gdLst/>
              <a:ahLst/>
              <a:cxnLst/>
              <a:rect l="l" t="t" r="r" b="b"/>
              <a:pathLst>
                <a:path w="13004800" h="97536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78498" y="131963"/>
            <a:ext cx="6347119" cy="887070"/>
            <a:chOff x="0" y="0"/>
            <a:chExt cx="8462825" cy="11827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62772" cy="1182751"/>
            </a:xfrm>
            <a:custGeom>
              <a:avLst/>
              <a:gdLst/>
              <a:ahLst/>
              <a:cxnLst/>
              <a:rect l="l" t="t" r="r" b="b"/>
              <a:pathLst>
                <a:path w="8462772" h="1182751">
                  <a:moveTo>
                    <a:pt x="0" y="0"/>
                  </a:moveTo>
                  <a:lnTo>
                    <a:pt x="8462772" y="0"/>
                  </a:lnTo>
                  <a:lnTo>
                    <a:pt x="8462772" y="1182751"/>
                  </a:lnTo>
                  <a:lnTo>
                    <a:pt x="0" y="1182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702" b="-770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73079" y="163056"/>
            <a:ext cx="5256595" cy="718400"/>
            <a:chOff x="0" y="0"/>
            <a:chExt cx="7008793" cy="9578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08793" cy="957866"/>
            </a:xfrm>
            <a:custGeom>
              <a:avLst/>
              <a:gdLst/>
              <a:ahLst/>
              <a:cxnLst/>
              <a:rect l="l" t="t" r="r" b="b"/>
              <a:pathLst>
                <a:path w="7008793" h="957866">
                  <a:moveTo>
                    <a:pt x="0" y="0"/>
                  </a:moveTo>
                  <a:lnTo>
                    <a:pt x="7008793" y="0"/>
                  </a:lnTo>
                  <a:lnTo>
                    <a:pt x="7008793" y="957866"/>
                  </a:lnTo>
                  <a:lnTo>
                    <a:pt x="0" y="957866"/>
                  </a:lnTo>
                  <a:close/>
                </a:path>
              </a:pathLst>
            </a:custGeom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7008793" cy="97691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764"/>
                </a:lnSpc>
              </a:pPr>
              <a:r>
                <a:rPr lang="en-US" sz="2558" b="1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MIT School of Computing</a:t>
              </a:r>
            </a:p>
            <a:p>
              <a:pPr algn="l">
                <a:lnSpc>
                  <a:spcPts val="1842"/>
                </a:lnSpc>
              </a:pPr>
              <a:r>
                <a:rPr lang="en-US" sz="1706" b="1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Department of Computer Science &amp; Engineering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33799" y="3453479"/>
            <a:ext cx="686000" cy="401098"/>
            <a:chOff x="0" y="0"/>
            <a:chExt cx="914667" cy="5347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667" cy="534797"/>
            </a:xfrm>
            <a:custGeom>
              <a:avLst/>
              <a:gdLst/>
              <a:ahLst/>
              <a:cxnLst/>
              <a:rect l="l" t="t" r="r" b="b"/>
              <a:pathLst>
                <a:path w="914667" h="534797">
                  <a:moveTo>
                    <a:pt x="0" y="0"/>
                  </a:moveTo>
                  <a:lnTo>
                    <a:pt x="914667" y="0"/>
                  </a:lnTo>
                  <a:lnTo>
                    <a:pt x="914667" y="534797"/>
                  </a:lnTo>
                  <a:lnTo>
                    <a:pt x="0" y="534797"/>
                  </a:lnTo>
                  <a:close/>
                </a:path>
              </a:pathLst>
            </a:custGeom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667" cy="5443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PLD </a:t>
              </a:r>
            </a:p>
          </p:txBody>
        </p:sp>
      </p:grp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731520" y="2171107"/>
          <a:ext cx="8290560" cy="4294361"/>
        </p:xfrm>
        <a:graphic>
          <a:graphicData uri="http://schemas.openxmlformats.org/drawingml/2006/table">
            <a:tbl>
              <a:tblPr/>
              <a:tblGrid>
                <a:gridCol w="2147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3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pPr algn="just">
                        <a:lnSpc>
                          <a:spcPts val="2658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Name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658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Enrollment No.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658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Roll No.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658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Class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just">
                        <a:lnSpc>
                          <a:spcPts val="2658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Anuj Bharat 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658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ADT23SOCB0301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658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09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658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AIA-05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just">
                        <a:lnSpc>
                          <a:spcPts val="2658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Krish Mali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658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ADT23SOCB0532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658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20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658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AIA-05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just">
                        <a:lnSpc>
                          <a:spcPts val="2658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Shreyanshu Maske 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658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ADT23SOCB1075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658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39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658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AIA-05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861">
                <a:tc>
                  <a:txBody>
                    <a:bodyPr/>
                    <a:lstStyle/>
                    <a:p>
                      <a:pPr algn="just">
                        <a:lnSpc>
                          <a:spcPts val="2658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Tushar  Parlikar 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658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ADT23SOCB1238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658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54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658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AIA-05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just">
                        <a:lnSpc>
                          <a:spcPts val="2658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658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658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658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3" name="Group 13"/>
          <p:cNvGrpSpPr/>
          <p:nvPr/>
        </p:nvGrpSpPr>
        <p:grpSpPr>
          <a:xfrm>
            <a:off x="4235797" y="1317770"/>
            <a:ext cx="1282003" cy="558061"/>
            <a:chOff x="0" y="0"/>
            <a:chExt cx="1709338" cy="74408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09338" cy="744082"/>
            </a:xfrm>
            <a:custGeom>
              <a:avLst/>
              <a:gdLst/>
              <a:ahLst/>
              <a:cxnLst/>
              <a:rect l="l" t="t" r="r" b="b"/>
              <a:pathLst>
                <a:path w="1709338" h="744082">
                  <a:moveTo>
                    <a:pt x="0" y="0"/>
                  </a:moveTo>
                  <a:lnTo>
                    <a:pt x="1709338" y="0"/>
                  </a:lnTo>
                  <a:lnTo>
                    <a:pt x="1709338" y="744082"/>
                  </a:lnTo>
                  <a:lnTo>
                    <a:pt x="0" y="744082"/>
                  </a:lnTo>
                  <a:close/>
                </a:path>
              </a:pathLst>
            </a:custGeom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709338" cy="77265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132"/>
                </a:lnSpc>
              </a:pPr>
              <a:r>
                <a:rPr lang="en-US" sz="2900" b="1">
                  <a:solidFill>
                    <a:srgbClr val="C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TEAM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753600" cy="7315200"/>
            <a:chOff x="0" y="0"/>
            <a:chExt cx="13004800" cy="9753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4800" cy="9753600"/>
            </a:xfrm>
            <a:custGeom>
              <a:avLst/>
              <a:gdLst/>
              <a:ahLst/>
              <a:cxnLst/>
              <a:rect l="l" t="t" r="r" b="b"/>
              <a:pathLst>
                <a:path w="13004800" h="97536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78498" y="131963"/>
            <a:ext cx="6347119" cy="887070"/>
            <a:chOff x="0" y="0"/>
            <a:chExt cx="8462825" cy="11827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62772" cy="1182751"/>
            </a:xfrm>
            <a:custGeom>
              <a:avLst/>
              <a:gdLst/>
              <a:ahLst/>
              <a:cxnLst/>
              <a:rect l="l" t="t" r="r" b="b"/>
              <a:pathLst>
                <a:path w="8462772" h="1182751">
                  <a:moveTo>
                    <a:pt x="0" y="0"/>
                  </a:moveTo>
                  <a:lnTo>
                    <a:pt x="8462772" y="0"/>
                  </a:lnTo>
                  <a:lnTo>
                    <a:pt x="8462772" y="1182751"/>
                  </a:lnTo>
                  <a:lnTo>
                    <a:pt x="0" y="1182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702" b="-770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73079" y="163056"/>
            <a:ext cx="5256595" cy="718400"/>
            <a:chOff x="0" y="0"/>
            <a:chExt cx="7008793" cy="9578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08793" cy="957866"/>
            </a:xfrm>
            <a:custGeom>
              <a:avLst/>
              <a:gdLst/>
              <a:ahLst/>
              <a:cxnLst/>
              <a:rect l="l" t="t" r="r" b="b"/>
              <a:pathLst>
                <a:path w="7008793" h="957866">
                  <a:moveTo>
                    <a:pt x="0" y="0"/>
                  </a:moveTo>
                  <a:lnTo>
                    <a:pt x="7008793" y="0"/>
                  </a:lnTo>
                  <a:lnTo>
                    <a:pt x="7008793" y="957866"/>
                  </a:lnTo>
                  <a:lnTo>
                    <a:pt x="0" y="957866"/>
                  </a:lnTo>
                  <a:close/>
                </a:path>
              </a:pathLst>
            </a:custGeom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7008793" cy="97691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764"/>
                </a:lnSpc>
              </a:pPr>
              <a:r>
                <a:rPr lang="en-US" sz="2558" b="1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MIT School of Computing</a:t>
              </a:r>
            </a:p>
            <a:p>
              <a:pPr algn="l">
                <a:lnSpc>
                  <a:spcPts val="1842"/>
                </a:lnSpc>
              </a:pPr>
              <a:r>
                <a:rPr lang="en-US" sz="1706" b="1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Department of Computer Science &amp; Engineering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33799" y="3453479"/>
            <a:ext cx="686000" cy="401098"/>
            <a:chOff x="0" y="0"/>
            <a:chExt cx="914667" cy="5347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667" cy="534797"/>
            </a:xfrm>
            <a:custGeom>
              <a:avLst/>
              <a:gdLst/>
              <a:ahLst/>
              <a:cxnLst/>
              <a:rect l="l" t="t" r="r" b="b"/>
              <a:pathLst>
                <a:path w="914667" h="534797">
                  <a:moveTo>
                    <a:pt x="0" y="0"/>
                  </a:moveTo>
                  <a:lnTo>
                    <a:pt x="914667" y="0"/>
                  </a:lnTo>
                  <a:lnTo>
                    <a:pt x="914667" y="534797"/>
                  </a:lnTo>
                  <a:lnTo>
                    <a:pt x="0" y="534797"/>
                  </a:lnTo>
                  <a:close/>
                </a:path>
              </a:pathLst>
            </a:custGeom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667" cy="5443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PLD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88480" y="6758677"/>
            <a:ext cx="2194560" cy="410898"/>
            <a:chOff x="0" y="0"/>
            <a:chExt cx="2926080" cy="5478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26080" cy="547864"/>
            </a:xfrm>
            <a:custGeom>
              <a:avLst/>
              <a:gdLst/>
              <a:ahLst/>
              <a:cxnLst/>
              <a:rect l="l" t="t" r="r" b="b"/>
              <a:pathLst>
                <a:path w="2926080" h="547864">
                  <a:moveTo>
                    <a:pt x="0" y="0"/>
                  </a:moveTo>
                  <a:lnTo>
                    <a:pt x="2926080" y="0"/>
                  </a:lnTo>
                  <a:lnTo>
                    <a:pt x="2926080" y="547864"/>
                  </a:lnTo>
                  <a:lnTo>
                    <a:pt x="0" y="547864"/>
                  </a:lnTo>
                  <a:close/>
                </a:path>
              </a:pathLst>
            </a:custGeom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2926080" cy="5764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5"/>
                </a:lnSpc>
              </a:pPr>
              <a:r>
                <a:rPr lang="en-US" sz="1278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4372" y="1267452"/>
            <a:ext cx="9524857" cy="49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Introduction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9948" y="2020721"/>
            <a:ext cx="8833703" cy="6048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 Core Problem: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Students struggle to find precise answers inside long textbook chapters; manually searching hundreds of pages is slow and frustrating.</a:t>
            </a: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Generic Chatbots: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General-purpose LLMs answer from their training data, not from the prescribed textbook, so answers may not match the syllabus.</a:t>
            </a: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Hallucinations: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LLMs can fabricate definitions or facts with false confidence when a topic lies outside their knowledge.</a:t>
            </a: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Lack of Grounding: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Plain chatbots give no link back to the textbook content the answer should come from.</a:t>
            </a: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 Goal: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Build a Retrieval-Augmented Generation (RAG) tutor bot that reads a textbook PDF, retrieves the most relevant passages for each question, and answers only from that context.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04800"/>
            <a:ext cx="9753600" cy="7315200"/>
            <a:chOff x="0" y="0"/>
            <a:chExt cx="13004800" cy="9753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4800" cy="9753600"/>
            </a:xfrm>
            <a:custGeom>
              <a:avLst/>
              <a:gdLst/>
              <a:ahLst/>
              <a:cxnLst/>
              <a:rect l="l" t="t" r="r" b="b"/>
              <a:pathLst>
                <a:path w="13004800" h="97536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78498" y="131963"/>
            <a:ext cx="6347119" cy="887070"/>
            <a:chOff x="0" y="0"/>
            <a:chExt cx="8462825" cy="11827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62772" cy="1182751"/>
            </a:xfrm>
            <a:custGeom>
              <a:avLst/>
              <a:gdLst/>
              <a:ahLst/>
              <a:cxnLst/>
              <a:rect l="l" t="t" r="r" b="b"/>
              <a:pathLst>
                <a:path w="8462772" h="1182751">
                  <a:moveTo>
                    <a:pt x="0" y="0"/>
                  </a:moveTo>
                  <a:lnTo>
                    <a:pt x="8462772" y="0"/>
                  </a:lnTo>
                  <a:lnTo>
                    <a:pt x="8462772" y="1182751"/>
                  </a:lnTo>
                  <a:lnTo>
                    <a:pt x="0" y="1182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702" b="-770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73079" y="163056"/>
            <a:ext cx="5256595" cy="718400"/>
            <a:chOff x="0" y="0"/>
            <a:chExt cx="7008793" cy="9578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08793" cy="957866"/>
            </a:xfrm>
            <a:custGeom>
              <a:avLst/>
              <a:gdLst/>
              <a:ahLst/>
              <a:cxnLst/>
              <a:rect l="l" t="t" r="r" b="b"/>
              <a:pathLst>
                <a:path w="7008793" h="957866">
                  <a:moveTo>
                    <a:pt x="0" y="0"/>
                  </a:moveTo>
                  <a:lnTo>
                    <a:pt x="7008793" y="0"/>
                  </a:lnTo>
                  <a:lnTo>
                    <a:pt x="7008793" y="957866"/>
                  </a:lnTo>
                  <a:lnTo>
                    <a:pt x="0" y="957866"/>
                  </a:lnTo>
                  <a:close/>
                </a:path>
              </a:pathLst>
            </a:custGeom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7008793" cy="97691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764"/>
                </a:lnSpc>
              </a:pPr>
              <a:r>
                <a:rPr lang="en-US" sz="2558" b="1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MIT School of Computing</a:t>
              </a:r>
            </a:p>
            <a:p>
              <a:pPr algn="l">
                <a:lnSpc>
                  <a:spcPts val="1842"/>
                </a:lnSpc>
              </a:pPr>
              <a:r>
                <a:rPr lang="en-US" sz="1706" b="1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Department of Computer Science &amp; Engineering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33799" y="3453479"/>
            <a:ext cx="686000" cy="401098"/>
            <a:chOff x="0" y="0"/>
            <a:chExt cx="914667" cy="5347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667" cy="534797"/>
            </a:xfrm>
            <a:custGeom>
              <a:avLst/>
              <a:gdLst/>
              <a:ahLst/>
              <a:cxnLst/>
              <a:rect l="l" t="t" r="r" b="b"/>
              <a:pathLst>
                <a:path w="914667" h="534797">
                  <a:moveTo>
                    <a:pt x="0" y="0"/>
                  </a:moveTo>
                  <a:lnTo>
                    <a:pt x="914667" y="0"/>
                  </a:lnTo>
                  <a:lnTo>
                    <a:pt x="914667" y="534797"/>
                  </a:lnTo>
                  <a:lnTo>
                    <a:pt x="0" y="534797"/>
                  </a:lnTo>
                  <a:close/>
                </a:path>
              </a:pathLst>
            </a:custGeom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667" cy="5443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PLD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88480" y="6758677"/>
            <a:ext cx="2194560" cy="410898"/>
            <a:chOff x="0" y="0"/>
            <a:chExt cx="2926080" cy="5478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26080" cy="547864"/>
            </a:xfrm>
            <a:custGeom>
              <a:avLst/>
              <a:gdLst/>
              <a:ahLst/>
              <a:cxnLst/>
              <a:rect l="l" t="t" r="r" b="b"/>
              <a:pathLst>
                <a:path w="2926080" h="547864">
                  <a:moveTo>
                    <a:pt x="0" y="0"/>
                  </a:moveTo>
                  <a:lnTo>
                    <a:pt x="2926080" y="0"/>
                  </a:lnTo>
                  <a:lnTo>
                    <a:pt x="2926080" y="547864"/>
                  </a:lnTo>
                  <a:lnTo>
                    <a:pt x="0" y="547864"/>
                  </a:lnTo>
                  <a:close/>
                </a:path>
              </a:pathLst>
            </a:custGeom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2926080" cy="5764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5"/>
                </a:lnSpc>
              </a:pPr>
              <a:r>
                <a:rPr lang="en-US" sz="1278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76321" y="1153287"/>
            <a:ext cx="9524857" cy="49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Problem Statement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57343" y="1801267"/>
            <a:ext cx="9353887" cy="5873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2400" b="1" dirty="0"/>
              <a:t>Students and self-learners</a:t>
            </a:r>
            <a:r>
              <a:rPr lang="en-IN" sz="2400" dirty="0"/>
              <a:t> often need quick, accurate answers from a specific textbook chapter. Large Language Models (LLMs) explain concepts fluently, but they do not know the exact content of the prescribed book.</a:t>
            </a:r>
          </a:p>
          <a:p>
            <a:r>
              <a:rPr lang="en-IN" sz="2400" dirty="0"/>
              <a:t>When asked about a textbook topic, a plain LLM may give answers that are </a:t>
            </a:r>
            <a:r>
              <a:rPr lang="en-IN" sz="2400" b="1" dirty="0"/>
              <a:t>generic, outdated or hallucinated</a:t>
            </a:r>
            <a:r>
              <a:rPr lang="en-IN" sz="2400" dirty="0"/>
              <a:t>, and it cannot point to the passage it relied on. This project applies </a:t>
            </a:r>
            <a:r>
              <a:rPr lang="en-IN" sz="2400" b="1" dirty="0"/>
              <a:t>Natural Language Processing (NLP)</a:t>
            </a:r>
            <a:r>
              <a:rPr lang="en-IN" sz="2400" dirty="0"/>
              <a:t> and </a:t>
            </a:r>
            <a:r>
              <a:rPr lang="en-IN" sz="2400" b="1" dirty="0"/>
              <a:t>Retrieval-Augmented Generation (RAG)</a:t>
            </a:r>
            <a:r>
              <a:rPr lang="en-IN" sz="2400" dirty="0"/>
              <a:t> to ground every answer in the textbook itself.</a:t>
            </a:r>
          </a:p>
          <a:p>
            <a:r>
              <a:rPr lang="en-IN" sz="2400" dirty="0"/>
              <a:t>The system must load a PDF, split it into meaningful chunks, convert them into semantic embeddings, retrieve the passages most similar to a question, and generate a concise answer that admits when the information is not in the book.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753600" cy="7315200"/>
            <a:chOff x="0" y="0"/>
            <a:chExt cx="13004800" cy="9753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4800" cy="9753600"/>
            </a:xfrm>
            <a:custGeom>
              <a:avLst/>
              <a:gdLst/>
              <a:ahLst/>
              <a:cxnLst/>
              <a:rect l="l" t="t" r="r" b="b"/>
              <a:pathLst>
                <a:path w="13004800" h="97536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78498" y="131963"/>
            <a:ext cx="6347119" cy="887070"/>
            <a:chOff x="0" y="0"/>
            <a:chExt cx="8462825" cy="11827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62772" cy="1182751"/>
            </a:xfrm>
            <a:custGeom>
              <a:avLst/>
              <a:gdLst/>
              <a:ahLst/>
              <a:cxnLst/>
              <a:rect l="l" t="t" r="r" b="b"/>
              <a:pathLst>
                <a:path w="8462772" h="1182751">
                  <a:moveTo>
                    <a:pt x="0" y="0"/>
                  </a:moveTo>
                  <a:lnTo>
                    <a:pt x="8462772" y="0"/>
                  </a:lnTo>
                  <a:lnTo>
                    <a:pt x="8462772" y="1182751"/>
                  </a:lnTo>
                  <a:lnTo>
                    <a:pt x="0" y="1182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702" b="-770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73079" y="163056"/>
            <a:ext cx="5256595" cy="718400"/>
            <a:chOff x="0" y="0"/>
            <a:chExt cx="7008793" cy="9578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08793" cy="957866"/>
            </a:xfrm>
            <a:custGeom>
              <a:avLst/>
              <a:gdLst/>
              <a:ahLst/>
              <a:cxnLst/>
              <a:rect l="l" t="t" r="r" b="b"/>
              <a:pathLst>
                <a:path w="7008793" h="957866">
                  <a:moveTo>
                    <a:pt x="0" y="0"/>
                  </a:moveTo>
                  <a:lnTo>
                    <a:pt x="7008793" y="0"/>
                  </a:lnTo>
                  <a:lnTo>
                    <a:pt x="7008793" y="957866"/>
                  </a:lnTo>
                  <a:lnTo>
                    <a:pt x="0" y="957866"/>
                  </a:lnTo>
                  <a:close/>
                </a:path>
              </a:pathLst>
            </a:custGeom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7008793" cy="97691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764"/>
                </a:lnSpc>
              </a:pPr>
              <a:r>
                <a:rPr lang="en-US" sz="2558" b="1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MIT School of Computing</a:t>
              </a:r>
            </a:p>
            <a:p>
              <a:pPr algn="l">
                <a:lnSpc>
                  <a:spcPts val="1842"/>
                </a:lnSpc>
              </a:pPr>
              <a:r>
                <a:rPr lang="en-US" sz="1706" b="1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Department of Computer Science &amp; Engineering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33799" y="3453479"/>
            <a:ext cx="686000" cy="401098"/>
            <a:chOff x="0" y="0"/>
            <a:chExt cx="914667" cy="5347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667" cy="534797"/>
            </a:xfrm>
            <a:custGeom>
              <a:avLst/>
              <a:gdLst/>
              <a:ahLst/>
              <a:cxnLst/>
              <a:rect l="l" t="t" r="r" b="b"/>
              <a:pathLst>
                <a:path w="914667" h="534797">
                  <a:moveTo>
                    <a:pt x="0" y="0"/>
                  </a:moveTo>
                  <a:lnTo>
                    <a:pt x="914667" y="0"/>
                  </a:lnTo>
                  <a:lnTo>
                    <a:pt x="914667" y="534797"/>
                  </a:lnTo>
                  <a:lnTo>
                    <a:pt x="0" y="534797"/>
                  </a:lnTo>
                  <a:close/>
                </a:path>
              </a:pathLst>
            </a:custGeom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667" cy="5443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PLD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88480" y="6758677"/>
            <a:ext cx="2194560" cy="410898"/>
            <a:chOff x="0" y="0"/>
            <a:chExt cx="2926080" cy="5478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26080" cy="547864"/>
            </a:xfrm>
            <a:custGeom>
              <a:avLst/>
              <a:gdLst/>
              <a:ahLst/>
              <a:cxnLst/>
              <a:rect l="l" t="t" r="r" b="b"/>
              <a:pathLst>
                <a:path w="2926080" h="547864">
                  <a:moveTo>
                    <a:pt x="0" y="0"/>
                  </a:moveTo>
                  <a:lnTo>
                    <a:pt x="2926080" y="0"/>
                  </a:lnTo>
                  <a:lnTo>
                    <a:pt x="2926080" y="547864"/>
                  </a:lnTo>
                  <a:lnTo>
                    <a:pt x="0" y="547864"/>
                  </a:lnTo>
                  <a:close/>
                </a:path>
              </a:pathLst>
            </a:custGeom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2926080" cy="5764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5"/>
                </a:lnSpc>
              </a:pPr>
              <a:r>
                <a:rPr lang="en-US" sz="1278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301549" y="1267452"/>
            <a:ext cx="9524857" cy="49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Proposed NLP Solution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8498" y="2020721"/>
            <a:ext cx="8833703" cy="4715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Title: Textbook Chapter Q&amp;A Tutor Bot (RAG)</a:t>
            </a:r>
          </a:p>
          <a:p>
            <a:pPr algn="just">
              <a:lnSpc>
                <a:spcPts val="2637"/>
              </a:lnSpc>
            </a:pPr>
            <a:endParaRPr lang="en-US" sz="2199" b="1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Document Ingestion: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The bot loads the textbook PDF page by page using PyPDFLoader, keeping page metadata for every passage.</a:t>
            </a: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Semantic Chunking &amp; Embedding: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Text is split into 1,000-character chunks with 200-character overlap and encoded with the all-MiniLM-L6-v2 model.</a:t>
            </a: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Similarity Retrieval: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For every question, a FAISS vector index returns the top-3 most relevant chunks.</a:t>
            </a: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Grounded Generation: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Google Gemini answers using only the retrieved context, and says so when the answer is not in the book.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753600" cy="7315200"/>
            <a:chOff x="0" y="0"/>
            <a:chExt cx="13004800" cy="9753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4800" cy="9753600"/>
            </a:xfrm>
            <a:custGeom>
              <a:avLst/>
              <a:gdLst/>
              <a:ahLst/>
              <a:cxnLst/>
              <a:rect l="l" t="t" r="r" b="b"/>
              <a:pathLst>
                <a:path w="13004800" h="97536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78498" y="131963"/>
            <a:ext cx="6347119" cy="887070"/>
            <a:chOff x="0" y="0"/>
            <a:chExt cx="8462825" cy="11827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62772" cy="1182751"/>
            </a:xfrm>
            <a:custGeom>
              <a:avLst/>
              <a:gdLst/>
              <a:ahLst/>
              <a:cxnLst/>
              <a:rect l="l" t="t" r="r" b="b"/>
              <a:pathLst>
                <a:path w="8462772" h="1182751">
                  <a:moveTo>
                    <a:pt x="0" y="0"/>
                  </a:moveTo>
                  <a:lnTo>
                    <a:pt x="8462772" y="0"/>
                  </a:lnTo>
                  <a:lnTo>
                    <a:pt x="8462772" y="1182751"/>
                  </a:lnTo>
                  <a:lnTo>
                    <a:pt x="0" y="1182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702" b="-770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73079" y="163056"/>
            <a:ext cx="5256595" cy="718400"/>
            <a:chOff x="0" y="0"/>
            <a:chExt cx="7008793" cy="9578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08793" cy="957866"/>
            </a:xfrm>
            <a:custGeom>
              <a:avLst/>
              <a:gdLst/>
              <a:ahLst/>
              <a:cxnLst/>
              <a:rect l="l" t="t" r="r" b="b"/>
              <a:pathLst>
                <a:path w="7008793" h="957866">
                  <a:moveTo>
                    <a:pt x="0" y="0"/>
                  </a:moveTo>
                  <a:lnTo>
                    <a:pt x="7008793" y="0"/>
                  </a:lnTo>
                  <a:lnTo>
                    <a:pt x="7008793" y="957866"/>
                  </a:lnTo>
                  <a:lnTo>
                    <a:pt x="0" y="957866"/>
                  </a:lnTo>
                  <a:close/>
                </a:path>
              </a:pathLst>
            </a:custGeom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7008793" cy="97691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764"/>
                </a:lnSpc>
              </a:pPr>
              <a:r>
                <a:rPr lang="en-US" sz="2558" b="1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MIT School of Computing</a:t>
              </a:r>
            </a:p>
            <a:p>
              <a:pPr algn="l">
                <a:lnSpc>
                  <a:spcPts val="1842"/>
                </a:lnSpc>
              </a:pPr>
              <a:r>
                <a:rPr lang="en-US" sz="1706" b="1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Department of Computer Science &amp; Engineering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33799" y="3453479"/>
            <a:ext cx="686000" cy="401098"/>
            <a:chOff x="0" y="0"/>
            <a:chExt cx="914667" cy="5347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667" cy="534797"/>
            </a:xfrm>
            <a:custGeom>
              <a:avLst/>
              <a:gdLst/>
              <a:ahLst/>
              <a:cxnLst/>
              <a:rect l="l" t="t" r="r" b="b"/>
              <a:pathLst>
                <a:path w="914667" h="534797">
                  <a:moveTo>
                    <a:pt x="0" y="0"/>
                  </a:moveTo>
                  <a:lnTo>
                    <a:pt x="914667" y="0"/>
                  </a:lnTo>
                  <a:lnTo>
                    <a:pt x="914667" y="534797"/>
                  </a:lnTo>
                  <a:lnTo>
                    <a:pt x="0" y="534797"/>
                  </a:lnTo>
                  <a:close/>
                </a:path>
              </a:pathLst>
            </a:custGeom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667" cy="5443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PLD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88480" y="6758677"/>
            <a:ext cx="2194560" cy="410898"/>
            <a:chOff x="0" y="0"/>
            <a:chExt cx="2926080" cy="5478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26080" cy="547864"/>
            </a:xfrm>
            <a:custGeom>
              <a:avLst/>
              <a:gdLst/>
              <a:ahLst/>
              <a:cxnLst/>
              <a:rect l="l" t="t" r="r" b="b"/>
              <a:pathLst>
                <a:path w="2926080" h="547864">
                  <a:moveTo>
                    <a:pt x="0" y="0"/>
                  </a:moveTo>
                  <a:lnTo>
                    <a:pt x="2926080" y="0"/>
                  </a:lnTo>
                  <a:lnTo>
                    <a:pt x="2926080" y="547864"/>
                  </a:lnTo>
                  <a:lnTo>
                    <a:pt x="0" y="547864"/>
                  </a:lnTo>
                  <a:close/>
                </a:path>
              </a:pathLst>
            </a:custGeom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2926080" cy="5764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5"/>
                </a:lnSpc>
              </a:pPr>
              <a:r>
                <a:rPr lang="en-US" sz="1278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734515" y="1214889"/>
            <a:ext cx="9524857" cy="49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Methodology &amp; Workflow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9947" y="1915596"/>
            <a:ext cx="8833703" cy="5048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Load PDF: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The textbook PDF in the data/ folder is read into LangChain Documents, one per page.</a:t>
            </a:r>
          </a:p>
          <a:p>
            <a:pPr algn="just">
              <a:lnSpc>
                <a:spcPts val="2637"/>
              </a:lnSpc>
            </a:pPr>
            <a:endParaRPr lang="en-US" sz="2199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Chunk Text: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RecursiveCharacterTextSplitter splits pages into overlapping chunks (size 1000, overlap 200).</a:t>
            </a: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Embed Chunks: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Each chunk is converted into a 384-dimension vector by all-MiniLM-L6-v2.</a:t>
            </a: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Build Index: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The vectors are stored in an in-memory FAISS index for fast similarity search.</a:t>
            </a: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Ask Question: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The student types a question in the interactive command-line loop.</a:t>
            </a: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Retrieve Context: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The retriever embeds the question and fetches the 3 most similar chunks.</a:t>
            </a: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Generate Answer: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The chunks and question fill the prompt template, and Gemini (temperature 0.2) writes the final answer.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753600" cy="7315200"/>
            <a:chOff x="0" y="0"/>
            <a:chExt cx="13004800" cy="9753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4800" cy="9753600"/>
            </a:xfrm>
            <a:custGeom>
              <a:avLst/>
              <a:gdLst/>
              <a:ahLst/>
              <a:cxnLst/>
              <a:rect l="l" t="t" r="r" b="b"/>
              <a:pathLst>
                <a:path w="13004800" h="97536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78498" y="131963"/>
            <a:ext cx="6347119" cy="887070"/>
            <a:chOff x="0" y="0"/>
            <a:chExt cx="8462825" cy="11827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62772" cy="1182751"/>
            </a:xfrm>
            <a:custGeom>
              <a:avLst/>
              <a:gdLst/>
              <a:ahLst/>
              <a:cxnLst/>
              <a:rect l="l" t="t" r="r" b="b"/>
              <a:pathLst>
                <a:path w="8462772" h="1182751">
                  <a:moveTo>
                    <a:pt x="0" y="0"/>
                  </a:moveTo>
                  <a:lnTo>
                    <a:pt x="8462772" y="0"/>
                  </a:lnTo>
                  <a:lnTo>
                    <a:pt x="8462772" y="1182751"/>
                  </a:lnTo>
                  <a:lnTo>
                    <a:pt x="0" y="1182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702" b="-770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73079" y="163056"/>
            <a:ext cx="5256595" cy="718400"/>
            <a:chOff x="0" y="0"/>
            <a:chExt cx="7008793" cy="9578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08793" cy="957866"/>
            </a:xfrm>
            <a:custGeom>
              <a:avLst/>
              <a:gdLst/>
              <a:ahLst/>
              <a:cxnLst/>
              <a:rect l="l" t="t" r="r" b="b"/>
              <a:pathLst>
                <a:path w="7008793" h="957866">
                  <a:moveTo>
                    <a:pt x="0" y="0"/>
                  </a:moveTo>
                  <a:lnTo>
                    <a:pt x="7008793" y="0"/>
                  </a:lnTo>
                  <a:lnTo>
                    <a:pt x="7008793" y="957866"/>
                  </a:lnTo>
                  <a:lnTo>
                    <a:pt x="0" y="957866"/>
                  </a:lnTo>
                  <a:close/>
                </a:path>
              </a:pathLst>
            </a:custGeom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7008793" cy="97691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764"/>
                </a:lnSpc>
              </a:pPr>
              <a:r>
                <a:rPr lang="en-US" sz="2558" b="1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MIT School of Computing</a:t>
              </a:r>
            </a:p>
            <a:p>
              <a:pPr algn="l">
                <a:lnSpc>
                  <a:spcPts val="1842"/>
                </a:lnSpc>
              </a:pPr>
              <a:r>
                <a:rPr lang="en-US" sz="1706" b="1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Department of Computer Science &amp; Engineering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33799" y="3453479"/>
            <a:ext cx="686000" cy="401098"/>
            <a:chOff x="0" y="0"/>
            <a:chExt cx="914667" cy="5347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667" cy="534797"/>
            </a:xfrm>
            <a:custGeom>
              <a:avLst/>
              <a:gdLst/>
              <a:ahLst/>
              <a:cxnLst/>
              <a:rect l="l" t="t" r="r" b="b"/>
              <a:pathLst>
                <a:path w="914667" h="534797">
                  <a:moveTo>
                    <a:pt x="0" y="0"/>
                  </a:moveTo>
                  <a:lnTo>
                    <a:pt x="914667" y="0"/>
                  </a:lnTo>
                  <a:lnTo>
                    <a:pt x="914667" y="534797"/>
                  </a:lnTo>
                  <a:lnTo>
                    <a:pt x="0" y="534797"/>
                  </a:lnTo>
                  <a:close/>
                </a:path>
              </a:pathLst>
            </a:custGeom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667" cy="5443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PLD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88480" y="6758677"/>
            <a:ext cx="2194560" cy="410898"/>
            <a:chOff x="0" y="0"/>
            <a:chExt cx="2926080" cy="5478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26080" cy="547864"/>
            </a:xfrm>
            <a:custGeom>
              <a:avLst/>
              <a:gdLst/>
              <a:ahLst/>
              <a:cxnLst/>
              <a:rect l="l" t="t" r="r" b="b"/>
              <a:pathLst>
                <a:path w="2926080" h="547864">
                  <a:moveTo>
                    <a:pt x="0" y="0"/>
                  </a:moveTo>
                  <a:lnTo>
                    <a:pt x="2926080" y="0"/>
                  </a:lnTo>
                  <a:lnTo>
                    <a:pt x="2926080" y="547864"/>
                  </a:lnTo>
                  <a:lnTo>
                    <a:pt x="0" y="547864"/>
                  </a:lnTo>
                  <a:close/>
                </a:path>
              </a:pathLst>
            </a:custGeom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2926080" cy="5764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5"/>
                </a:lnSpc>
              </a:pPr>
              <a:r>
                <a:rPr lang="en-US" sz="1278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195939" y="1318159"/>
            <a:ext cx="9524857" cy="49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Retrieval &amp; Generation (RAG Mapping)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8207" y="2122136"/>
            <a:ext cx="8833703" cy="438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Question: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"What is Retrieval-Augmented Generation?"</a:t>
            </a: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Embed: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The question is encoded into a vector by all-MiniLM-L6-v2.</a:t>
            </a: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Retrieve: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FAISS similarity search returns the top k = 3 chunks.</a:t>
            </a: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Observation: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Three textbook passages describing RAG are returned.</a:t>
            </a: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Context Building: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The passages are joined into one context string.</a:t>
            </a: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Prompt: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{context} + {question} filled, "use ONLY the context".</a:t>
            </a: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Generate: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llm.invoke(final_prompt) sends the prompt to Google Gemini.</a:t>
            </a: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Final Answer: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"RAG combines retrieval with text generation."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753600" cy="7315200"/>
            <a:chOff x="0" y="0"/>
            <a:chExt cx="13004800" cy="9753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4800" cy="9753600"/>
            </a:xfrm>
            <a:custGeom>
              <a:avLst/>
              <a:gdLst/>
              <a:ahLst/>
              <a:cxnLst/>
              <a:rect l="l" t="t" r="r" b="b"/>
              <a:pathLst>
                <a:path w="13004800" h="97536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78498" y="131963"/>
            <a:ext cx="6347119" cy="887070"/>
            <a:chOff x="0" y="0"/>
            <a:chExt cx="8462825" cy="11827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62772" cy="1182751"/>
            </a:xfrm>
            <a:custGeom>
              <a:avLst/>
              <a:gdLst/>
              <a:ahLst/>
              <a:cxnLst/>
              <a:rect l="l" t="t" r="r" b="b"/>
              <a:pathLst>
                <a:path w="8462772" h="1182751">
                  <a:moveTo>
                    <a:pt x="0" y="0"/>
                  </a:moveTo>
                  <a:lnTo>
                    <a:pt x="8462772" y="0"/>
                  </a:lnTo>
                  <a:lnTo>
                    <a:pt x="8462772" y="1182751"/>
                  </a:lnTo>
                  <a:lnTo>
                    <a:pt x="0" y="1182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702" b="-770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73079" y="163056"/>
            <a:ext cx="5256595" cy="718400"/>
            <a:chOff x="0" y="0"/>
            <a:chExt cx="7008793" cy="9578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08793" cy="957866"/>
            </a:xfrm>
            <a:custGeom>
              <a:avLst/>
              <a:gdLst/>
              <a:ahLst/>
              <a:cxnLst/>
              <a:rect l="l" t="t" r="r" b="b"/>
              <a:pathLst>
                <a:path w="7008793" h="957866">
                  <a:moveTo>
                    <a:pt x="0" y="0"/>
                  </a:moveTo>
                  <a:lnTo>
                    <a:pt x="7008793" y="0"/>
                  </a:lnTo>
                  <a:lnTo>
                    <a:pt x="7008793" y="957866"/>
                  </a:lnTo>
                  <a:lnTo>
                    <a:pt x="0" y="957866"/>
                  </a:lnTo>
                  <a:close/>
                </a:path>
              </a:pathLst>
            </a:custGeom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7008793" cy="97691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764"/>
                </a:lnSpc>
              </a:pPr>
              <a:r>
                <a:rPr lang="en-US" sz="2558" b="1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MIT School of Computing</a:t>
              </a:r>
            </a:p>
            <a:p>
              <a:pPr algn="l">
                <a:lnSpc>
                  <a:spcPts val="1842"/>
                </a:lnSpc>
              </a:pPr>
              <a:r>
                <a:rPr lang="en-US" sz="1706" b="1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Department of Computer Science &amp; Engineering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33799" y="3453479"/>
            <a:ext cx="686000" cy="401098"/>
            <a:chOff x="0" y="0"/>
            <a:chExt cx="914667" cy="5347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667" cy="534797"/>
            </a:xfrm>
            <a:custGeom>
              <a:avLst/>
              <a:gdLst/>
              <a:ahLst/>
              <a:cxnLst/>
              <a:rect l="l" t="t" r="r" b="b"/>
              <a:pathLst>
                <a:path w="914667" h="534797">
                  <a:moveTo>
                    <a:pt x="0" y="0"/>
                  </a:moveTo>
                  <a:lnTo>
                    <a:pt x="914667" y="0"/>
                  </a:lnTo>
                  <a:lnTo>
                    <a:pt x="914667" y="534797"/>
                  </a:lnTo>
                  <a:lnTo>
                    <a:pt x="0" y="534797"/>
                  </a:lnTo>
                  <a:close/>
                </a:path>
              </a:pathLst>
            </a:custGeom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667" cy="5443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PLD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88480" y="6758677"/>
            <a:ext cx="2194560" cy="410898"/>
            <a:chOff x="0" y="0"/>
            <a:chExt cx="2926080" cy="5478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26080" cy="547864"/>
            </a:xfrm>
            <a:custGeom>
              <a:avLst/>
              <a:gdLst/>
              <a:ahLst/>
              <a:cxnLst/>
              <a:rect l="l" t="t" r="r" b="b"/>
              <a:pathLst>
                <a:path w="2926080" h="547864">
                  <a:moveTo>
                    <a:pt x="0" y="0"/>
                  </a:moveTo>
                  <a:lnTo>
                    <a:pt x="2926080" y="0"/>
                  </a:lnTo>
                  <a:lnTo>
                    <a:pt x="2926080" y="547864"/>
                  </a:lnTo>
                  <a:lnTo>
                    <a:pt x="0" y="547864"/>
                  </a:lnTo>
                  <a:close/>
                </a:path>
              </a:pathLst>
            </a:custGeom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2926080" cy="5764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5"/>
                </a:lnSpc>
              </a:pPr>
              <a:r>
                <a:rPr lang="en-US" sz="1278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046240" y="1150926"/>
            <a:ext cx="9524857" cy="49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Hallucinations &amp; Mitigation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8498" y="1787671"/>
            <a:ext cx="8833703" cy="5381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Retrieval Errors: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The top-3 chunks may miss the relevant passage when the question uses different wording from the book.</a:t>
            </a:r>
          </a:p>
          <a:p>
            <a:pPr algn="just">
              <a:lnSpc>
                <a:spcPts val="2637"/>
              </a:lnSpc>
            </a:pPr>
            <a:endParaRPr lang="en-US" sz="2199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Chunk Boundaries: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 definition split across two chunks can reach the LLM incomplete; the 200-character overlap reduces this.</a:t>
            </a:r>
          </a:p>
          <a:p>
            <a:pPr algn="just">
              <a:lnSpc>
                <a:spcPts val="2637"/>
              </a:lnSpc>
            </a:pPr>
            <a:endParaRPr lang="en-US" sz="2199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PDF Extraction Issues: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Scanned pages, tables and equations may extract poorly, giving the model noisy context.</a:t>
            </a:r>
          </a:p>
          <a:p>
            <a:pPr algn="just">
              <a:lnSpc>
                <a:spcPts val="2637"/>
              </a:lnSpc>
            </a:pPr>
            <a:endParaRPr lang="en-US" sz="2199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Out-of-Context Answers: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The LLM may still add outside knowledge that is not in the textbook.</a:t>
            </a:r>
          </a:p>
          <a:p>
            <a:pPr algn="just">
              <a:lnSpc>
                <a:spcPts val="2637"/>
              </a:lnSpc>
            </a:pPr>
            <a:endParaRPr lang="en-US" sz="2199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Mitigation Strategy: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The prompt forces the model to use ONLY the retrieved context, a low temperature (0.2) limits creative drift, and the bot replies "I don't know based on the provided context" when the answer is absent.</a:t>
            </a:r>
          </a:p>
          <a:p>
            <a:pPr algn="just">
              <a:lnSpc>
                <a:spcPts val="2637"/>
              </a:lnSpc>
            </a:pPr>
            <a:endParaRPr lang="en-US" sz="2199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753600" cy="7315200"/>
            <a:chOff x="0" y="0"/>
            <a:chExt cx="13004800" cy="9753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4800" cy="9753600"/>
            </a:xfrm>
            <a:custGeom>
              <a:avLst/>
              <a:gdLst/>
              <a:ahLst/>
              <a:cxnLst/>
              <a:rect l="l" t="t" r="r" b="b"/>
              <a:pathLst>
                <a:path w="13004800" h="97536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78498" y="131963"/>
            <a:ext cx="6347119" cy="887070"/>
            <a:chOff x="0" y="0"/>
            <a:chExt cx="8462825" cy="11827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62772" cy="1182751"/>
            </a:xfrm>
            <a:custGeom>
              <a:avLst/>
              <a:gdLst/>
              <a:ahLst/>
              <a:cxnLst/>
              <a:rect l="l" t="t" r="r" b="b"/>
              <a:pathLst>
                <a:path w="8462772" h="1182751">
                  <a:moveTo>
                    <a:pt x="0" y="0"/>
                  </a:moveTo>
                  <a:lnTo>
                    <a:pt x="8462772" y="0"/>
                  </a:lnTo>
                  <a:lnTo>
                    <a:pt x="8462772" y="1182751"/>
                  </a:lnTo>
                  <a:lnTo>
                    <a:pt x="0" y="1182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702" b="-770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73079" y="163056"/>
            <a:ext cx="5256595" cy="718400"/>
            <a:chOff x="0" y="0"/>
            <a:chExt cx="7008793" cy="9578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08793" cy="957866"/>
            </a:xfrm>
            <a:custGeom>
              <a:avLst/>
              <a:gdLst/>
              <a:ahLst/>
              <a:cxnLst/>
              <a:rect l="l" t="t" r="r" b="b"/>
              <a:pathLst>
                <a:path w="7008793" h="957866">
                  <a:moveTo>
                    <a:pt x="0" y="0"/>
                  </a:moveTo>
                  <a:lnTo>
                    <a:pt x="7008793" y="0"/>
                  </a:lnTo>
                  <a:lnTo>
                    <a:pt x="7008793" y="957866"/>
                  </a:lnTo>
                  <a:lnTo>
                    <a:pt x="0" y="957866"/>
                  </a:lnTo>
                  <a:close/>
                </a:path>
              </a:pathLst>
            </a:custGeom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7008793" cy="97691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764"/>
                </a:lnSpc>
              </a:pPr>
              <a:r>
                <a:rPr lang="en-US" sz="2558" b="1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MIT School of Computing</a:t>
              </a:r>
            </a:p>
            <a:p>
              <a:pPr algn="l">
                <a:lnSpc>
                  <a:spcPts val="1842"/>
                </a:lnSpc>
              </a:pPr>
              <a:r>
                <a:rPr lang="en-US" sz="1706" b="1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Department of Computer Science &amp; Engineering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33799" y="3453479"/>
            <a:ext cx="686000" cy="401098"/>
            <a:chOff x="0" y="0"/>
            <a:chExt cx="914667" cy="5347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667" cy="534797"/>
            </a:xfrm>
            <a:custGeom>
              <a:avLst/>
              <a:gdLst/>
              <a:ahLst/>
              <a:cxnLst/>
              <a:rect l="l" t="t" r="r" b="b"/>
              <a:pathLst>
                <a:path w="914667" h="534797">
                  <a:moveTo>
                    <a:pt x="0" y="0"/>
                  </a:moveTo>
                  <a:lnTo>
                    <a:pt x="914667" y="0"/>
                  </a:lnTo>
                  <a:lnTo>
                    <a:pt x="914667" y="534797"/>
                  </a:lnTo>
                  <a:lnTo>
                    <a:pt x="0" y="534797"/>
                  </a:lnTo>
                  <a:close/>
                </a:path>
              </a:pathLst>
            </a:custGeom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667" cy="5443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PLD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88480" y="6758677"/>
            <a:ext cx="2194560" cy="410898"/>
            <a:chOff x="0" y="0"/>
            <a:chExt cx="2926080" cy="5478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26080" cy="547864"/>
            </a:xfrm>
            <a:custGeom>
              <a:avLst/>
              <a:gdLst/>
              <a:ahLst/>
              <a:cxnLst/>
              <a:rect l="l" t="t" r="r" b="b"/>
              <a:pathLst>
                <a:path w="2926080" h="547864">
                  <a:moveTo>
                    <a:pt x="0" y="0"/>
                  </a:moveTo>
                  <a:lnTo>
                    <a:pt x="2926080" y="0"/>
                  </a:lnTo>
                  <a:lnTo>
                    <a:pt x="2926080" y="547864"/>
                  </a:lnTo>
                  <a:lnTo>
                    <a:pt x="0" y="547864"/>
                  </a:lnTo>
                  <a:close/>
                </a:path>
              </a:pathLst>
            </a:custGeom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2926080" cy="5764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5"/>
                </a:lnSpc>
              </a:pPr>
              <a:r>
                <a:rPr lang="en-US" sz="1278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938468" y="1150926"/>
            <a:ext cx="9524857" cy="49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Comparison: RAG Tutor Bot vs. Plain LLM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8498" y="1922477"/>
            <a:ext cx="8833703" cy="4715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Plain LLM Chatbot: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Answers purely from pre-trained knowledge. It does not know the prescribed textbook, cannot show where an answer came from, and may hallucinate when unsure.</a:t>
            </a:r>
          </a:p>
          <a:p>
            <a:pPr algn="just">
              <a:lnSpc>
                <a:spcPts val="2637"/>
              </a:lnSpc>
            </a:pPr>
            <a:endParaRPr lang="en-US" sz="2199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RAG Tutor Bot: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Uses the same kind of LLM (Google Gemini), but first retrieves the most relevant passages from the textbook and supplies them as context.</a:t>
            </a:r>
          </a:p>
          <a:p>
            <a:pPr algn="just">
              <a:lnSpc>
                <a:spcPts val="2637"/>
              </a:lnSpc>
            </a:pPr>
            <a:endParaRPr lang="en-US" sz="2199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 Key Difference: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Answers are grounded in the student's own textbook. New knowledge needs only a new PDF, not retraining the model, and the bot admits when the book does not contain the answer.</a:t>
            </a:r>
          </a:p>
          <a:p>
            <a:pPr algn="just">
              <a:lnSpc>
                <a:spcPts val="2637"/>
              </a:lnSpc>
            </a:pPr>
            <a:endParaRPr lang="en-US" sz="2199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753600" cy="7315200"/>
            <a:chOff x="0" y="0"/>
            <a:chExt cx="13004800" cy="9753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4800" cy="9753600"/>
            </a:xfrm>
            <a:custGeom>
              <a:avLst/>
              <a:gdLst/>
              <a:ahLst/>
              <a:cxnLst/>
              <a:rect l="l" t="t" r="r" b="b"/>
              <a:pathLst>
                <a:path w="13004800" h="97536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78498" y="131963"/>
            <a:ext cx="6347119" cy="887070"/>
            <a:chOff x="0" y="0"/>
            <a:chExt cx="8462825" cy="11827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62772" cy="1182751"/>
            </a:xfrm>
            <a:custGeom>
              <a:avLst/>
              <a:gdLst/>
              <a:ahLst/>
              <a:cxnLst/>
              <a:rect l="l" t="t" r="r" b="b"/>
              <a:pathLst>
                <a:path w="8462772" h="1182751">
                  <a:moveTo>
                    <a:pt x="0" y="0"/>
                  </a:moveTo>
                  <a:lnTo>
                    <a:pt x="8462772" y="0"/>
                  </a:lnTo>
                  <a:lnTo>
                    <a:pt x="8462772" y="1182751"/>
                  </a:lnTo>
                  <a:lnTo>
                    <a:pt x="0" y="1182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702" b="-770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73079" y="163056"/>
            <a:ext cx="5256595" cy="718400"/>
            <a:chOff x="0" y="0"/>
            <a:chExt cx="7008793" cy="9578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08793" cy="957866"/>
            </a:xfrm>
            <a:custGeom>
              <a:avLst/>
              <a:gdLst/>
              <a:ahLst/>
              <a:cxnLst/>
              <a:rect l="l" t="t" r="r" b="b"/>
              <a:pathLst>
                <a:path w="7008793" h="957866">
                  <a:moveTo>
                    <a:pt x="0" y="0"/>
                  </a:moveTo>
                  <a:lnTo>
                    <a:pt x="7008793" y="0"/>
                  </a:lnTo>
                  <a:lnTo>
                    <a:pt x="7008793" y="957866"/>
                  </a:lnTo>
                  <a:lnTo>
                    <a:pt x="0" y="957866"/>
                  </a:lnTo>
                  <a:close/>
                </a:path>
              </a:pathLst>
            </a:custGeom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7008793" cy="97691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764"/>
                </a:lnSpc>
              </a:pPr>
              <a:r>
                <a:rPr lang="en-US" sz="2558" b="1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MIT School of Computing</a:t>
              </a:r>
            </a:p>
            <a:p>
              <a:pPr algn="l">
                <a:lnSpc>
                  <a:spcPts val="1842"/>
                </a:lnSpc>
              </a:pPr>
              <a:r>
                <a:rPr lang="en-US" sz="1706" b="1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Department of Computer Science &amp; Engineering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33799" y="3453479"/>
            <a:ext cx="686000" cy="401098"/>
            <a:chOff x="0" y="0"/>
            <a:chExt cx="914667" cy="5347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667" cy="534797"/>
            </a:xfrm>
            <a:custGeom>
              <a:avLst/>
              <a:gdLst/>
              <a:ahLst/>
              <a:cxnLst/>
              <a:rect l="l" t="t" r="r" b="b"/>
              <a:pathLst>
                <a:path w="914667" h="534797">
                  <a:moveTo>
                    <a:pt x="0" y="0"/>
                  </a:moveTo>
                  <a:lnTo>
                    <a:pt x="914667" y="0"/>
                  </a:lnTo>
                  <a:lnTo>
                    <a:pt x="914667" y="534797"/>
                  </a:lnTo>
                  <a:lnTo>
                    <a:pt x="0" y="534797"/>
                  </a:lnTo>
                  <a:close/>
                </a:path>
              </a:pathLst>
            </a:custGeom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667" cy="5443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PLD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88480" y="6758677"/>
            <a:ext cx="2194560" cy="410898"/>
            <a:chOff x="0" y="0"/>
            <a:chExt cx="2926080" cy="5478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26080" cy="547864"/>
            </a:xfrm>
            <a:custGeom>
              <a:avLst/>
              <a:gdLst/>
              <a:ahLst/>
              <a:cxnLst/>
              <a:rect l="l" t="t" r="r" b="b"/>
              <a:pathLst>
                <a:path w="2926080" h="547864">
                  <a:moveTo>
                    <a:pt x="0" y="0"/>
                  </a:moveTo>
                  <a:lnTo>
                    <a:pt x="2926080" y="0"/>
                  </a:lnTo>
                  <a:lnTo>
                    <a:pt x="2926080" y="547864"/>
                  </a:lnTo>
                  <a:lnTo>
                    <a:pt x="0" y="547864"/>
                  </a:lnTo>
                  <a:close/>
                </a:path>
              </a:pathLst>
            </a:custGeom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2926080" cy="5764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5"/>
                </a:lnSpc>
              </a:pPr>
              <a:r>
                <a:rPr lang="en-US" sz="1278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78498" y="1268221"/>
            <a:ext cx="9524857" cy="49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Tools, Technologies, Input &amp; Output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8498" y="1787671"/>
            <a:ext cx="8833703" cy="4715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Core LLM: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Google Gemini (Flash) via langchain-google-genai, with temperature 0.2 for focused, factual answers.</a:t>
            </a: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Frameworks: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LangChain for PDF loading (PyPDF), text splitting, prompt templates and RAG orchestration.</a:t>
            </a: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Embeddings: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Hugging Face sentence-transformers model all-MiniLM-L6-v2 for semantic vectors.</a:t>
            </a: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Vector Database: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FAISS (faiss-cpu) for fast similarity search over chunk embeddings.</a:t>
            </a: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Input: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 textbook chapter PDF and a natural-language question from the student.</a:t>
            </a:r>
          </a:p>
          <a:p>
            <a:pPr algn="just">
              <a:lnSpc>
                <a:spcPts val="2637"/>
              </a:lnSpc>
            </a:pPr>
            <a:endParaRPr lang="en-US" sz="2199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Expected Output: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 clear, concise answer grounded in the retrieved textbook passages, or "I don't know based on the provided context."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753600" cy="7315200"/>
            <a:chOff x="0" y="0"/>
            <a:chExt cx="13004800" cy="9753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4800" cy="9753600"/>
            </a:xfrm>
            <a:custGeom>
              <a:avLst/>
              <a:gdLst/>
              <a:ahLst/>
              <a:cxnLst/>
              <a:rect l="l" t="t" r="r" b="b"/>
              <a:pathLst>
                <a:path w="13004800" h="97536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78498" y="131963"/>
            <a:ext cx="6347119" cy="887070"/>
            <a:chOff x="0" y="0"/>
            <a:chExt cx="8462825" cy="11827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62772" cy="1182751"/>
            </a:xfrm>
            <a:custGeom>
              <a:avLst/>
              <a:gdLst/>
              <a:ahLst/>
              <a:cxnLst/>
              <a:rect l="l" t="t" r="r" b="b"/>
              <a:pathLst>
                <a:path w="8462772" h="1182751">
                  <a:moveTo>
                    <a:pt x="0" y="0"/>
                  </a:moveTo>
                  <a:lnTo>
                    <a:pt x="8462772" y="0"/>
                  </a:lnTo>
                  <a:lnTo>
                    <a:pt x="8462772" y="1182751"/>
                  </a:lnTo>
                  <a:lnTo>
                    <a:pt x="0" y="1182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702" b="-770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73079" y="163056"/>
            <a:ext cx="5256595" cy="718400"/>
            <a:chOff x="0" y="0"/>
            <a:chExt cx="7008793" cy="9578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08793" cy="957866"/>
            </a:xfrm>
            <a:custGeom>
              <a:avLst/>
              <a:gdLst/>
              <a:ahLst/>
              <a:cxnLst/>
              <a:rect l="l" t="t" r="r" b="b"/>
              <a:pathLst>
                <a:path w="7008793" h="957866">
                  <a:moveTo>
                    <a:pt x="0" y="0"/>
                  </a:moveTo>
                  <a:lnTo>
                    <a:pt x="7008793" y="0"/>
                  </a:lnTo>
                  <a:lnTo>
                    <a:pt x="7008793" y="957866"/>
                  </a:lnTo>
                  <a:lnTo>
                    <a:pt x="0" y="957866"/>
                  </a:lnTo>
                  <a:close/>
                </a:path>
              </a:pathLst>
            </a:custGeom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7008793" cy="97691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764"/>
                </a:lnSpc>
              </a:pPr>
              <a:r>
                <a:rPr lang="en-US" sz="2558" b="1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MIT School of Computing</a:t>
              </a:r>
            </a:p>
            <a:p>
              <a:pPr algn="l">
                <a:lnSpc>
                  <a:spcPts val="1842"/>
                </a:lnSpc>
              </a:pPr>
              <a:r>
                <a:rPr lang="en-US" sz="1706" b="1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Department of Computer Science &amp; Engineering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33799" y="3453479"/>
            <a:ext cx="686000" cy="401098"/>
            <a:chOff x="0" y="0"/>
            <a:chExt cx="914667" cy="5347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667" cy="534797"/>
            </a:xfrm>
            <a:custGeom>
              <a:avLst/>
              <a:gdLst/>
              <a:ahLst/>
              <a:cxnLst/>
              <a:rect l="l" t="t" r="r" b="b"/>
              <a:pathLst>
                <a:path w="914667" h="534797">
                  <a:moveTo>
                    <a:pt x="0" y="0"/>
                  </a:moveTo>
                  <a:lnTo>
                    <a:pt x="914667" y="0"/>
                  </a:lnTo>
                  <a:lnTo>
                    <a:pt x="914667" y="534797"/>
                  </a:lnTo>
                  <a:lnTo>
                    <a:pt x="0" y="534797"/>
                  </a:lnTo>
                  <a:close/>
                </a:path>
              </a:pathLst>
            </a:custGeom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667" cy="5443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PLD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88480" y="6758677"/>
            <a:ext cx="2194560" cy="410898"/>
            <a:chOff x="0" y="0"/>
            <a:chExt cx="2926080" cy="5478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26080" cy="547864"/>
            </a:xfrm>
            <a:custGeom>
              <a:avLst/>
              <a:gdLst/>
              <a:ahLst/>
              <a:cxnLst/>
              <a:rect l="l" t="t" r="r" b="b"/>
              <a:pathLst>
                <a:path w="2926080" h="547864">
                  <a:moveTo>
                    <a:pt x="0" y="0"/>
                  </a:moveTo>
                  <a:lnTo>
                    <a:pt x="2926080" y="0"/>
                  </a:lnTo>
                  <a:lnTo>
                    <a:pt x="2926080" y="547864"/>
                  </a:lnTo>
                  <a:lnTo>
                    <a:pt x="0" y="547864"/>
                  </a:lnTo>
                  <a:close/>
                </a:path>
              </a:pathLst>
            </a:custGeom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2926080" cy="5764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5"/>
                </a:lnSpc>
              </a:pPr>
              <a:r>
                <a:rPr lang="en-US" sz="1278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78498" y="1268221"/>
            <a:ext cx="9524857" cy="49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Implementation Plan &amp; Ethical Considerations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8498" y="2020721"/>
            <a:ext cx="8833703" cy="438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Backend Implementation: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Modular Python pipeline (ingestion, chunking, embeddings, vector store, retrieval, prompt, LLM) wired together in main.py, with the API key loaded from a .env file.</a:t>
            </a: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Frontend Implementation: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Currently an interactive command-line chatbot; a Streamlit or FastAPI web interface showing page-number citations is planned.</a:t>
            </a: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Ethical Consideration (Over-Reliance &amp; Copyright):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Students may accept answers without reading the chapter, and textbook PDFs must be used within copyright limits.</a:t>
            </a:r>
          </a:p>
          <a:p>
            <a:pPr marL="474979" lvl="1" indent="-237490" algn="just">
              <a:lnSpc>
                <a:spcPts val="2637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Mitigation: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Answers are restricted to the book's content, the bot admits when it does not know, and future versions will show source pages so students can verify answers.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753600" cy="7315200"/>
            <a:chOff x="0" y="0"/>
            <a:chExt cx="13004800" cy="9753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4800" cy="9753600"/>
            </a:xfrm>
            <a:custGeom>
              <a:avLst/>
              <a:gdLst/>
              <a:ahLst/>
              <a:cxnLst/>
              <a:rect l="l" t="t" r="r" b="b"/>
              <a:pathLst>
                <a:path w="13004800" h="97536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78498" y="131963"/>
            <a:ext cx="6347119" cy="887070"/>
            <a:chOff x="0" y="0"/>
            <a:chExt cx="8462825" cy="11827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62772" cy="1182751"/>
            </a:xfrm>
            <a:custGeom>
              <a:avLst/>
              <a:gdLst/>
              <a:ahLst/>
              <a:cxnLst/>
              <a:rect l="l" t="t" r="r" b="b"/>
              <a:pathLst>
                <a:path w="8462772" h="1182751">
                  <a:moveTo>
                    <a:pt x="0" y="0"/>
                  </a:moveTo>
                  <a:lnTo>
                    <a:pt x="8462772" y="0"/>
                  </a:lnTo>
                  <a:lnTo>
                    <a:pt x="8462772" y="1182751"/>
                  </a:lnTo>
                  <a:lnTo>
                    <a:pt x="0" y="1182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702" b="-770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73079" y="163056"/>
            <a:ext cx="5256595" cy="718400"/>
            <a:chOff x="0" y="0"/>
            <a:chExt cx="7008793" cy="9578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08793" cy="957866"/>
            </a:xfrm>
            <a:custGeom>
              <a:avLst/>
              <a:gdLst/>
              <a:ahLst/>
              <a:cxnLst/>
              <a:rect l="l" t="t" r="r" b="b"/>
              <a:pathLst>
                <a:path w="7008793" h="957866">
                  <a:moveTo>
                    <a:pt x="0" y="0"/>
                  </a:moveTo>
                  <a:lnTo>
                    <a:pt x="7008793" y="0"/>
                  </a:lnTo>
                  <a:lnTo>
                    <a:pt x="7008793" y="957866"/>
                  </a:lnTo>
                  <a:lnTo>
                    <a:pt x="0" y="957866"/>
                  </a:lnTo>
                  <a:close/>
                </a:path>
              </a:pathLst>
            </a:custGeom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7008793" cy="97691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764"/>
                </a:lnSpc>
              </a:pPr>
              <a:r>
                <a:rPr lang="en-US" sz="2558" b="1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MIT School of Computing</a:t>
              </a:r>
            </a:p>
            <a:p>
              <a:pPr algn="l">
                <a:lnSpc>
                  <a:spcPts val="1842"/>
                </a:lnSpc>
              </a:pPr>
              <a:r>
                <a:rPr lang="en-US" sz="1706" b="1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Department of Computer Science &amp; Engineering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33799" y="3453479"/>
            <a:ext cx="686000" cy="401098"/>
            <a:chOff x="0" y="0"/>
            <a:chExt cx="914667" cy="5347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667" cy="534797"/>
            </a:xfrm>
            <a:custGeom>
              <a:avLst/>
              <a:gdLst/>
              <a:ahLst/>
              <a:cxnLst/>
              <a:rect l="l" t="t" r="r" b="b"/>
              <a:pathLst>
                <a:path w="914667" h="534797">
                  <a:moveTo>
                    <a:pt x="0" y="0"/>
                  </a:moveTo>
                  <a:lnTo>
                    <a:pt x="914667" y="0"/>
                  </a:lnTo>
                  <a:lnTo>
                    <a:pt x="914667" y="534797"/>
                  </a:lnTo>
                  <a:lnTo>
                    <a:pt x="0" y="534797"/>
                  </a:lnTo>
                  <a:close/>
                </a:path>
              </a:pathLst>
            </a:custGeom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667" cy="5443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PLD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88480" y="6758677"/>
            <a:ext cx="2194560" cy="410898"/>
            <a:chOff x="0" y="0"/>
            <a:chExt cx="2926080" cy="5478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26080" cy="547864"/>
            </a:xfrm>
            <a:custGeom>
              <a:avLst/>
              <a:gdLst/>
              <a:ahLst/>
              <a:cxnLst/>
              <a:rect l="l" t="t" r="r" b="b"/>
              <a:pathLst>
                <a:path w="2926080" h="547864">
                  <a:moveTo>
                    <a:pt x="0" y="0"/>
                  </a:moveTo>
                  <a:lnTo>
                    <a:pt x="2926080" y="0"/>
                  </a:lnTo>
                  <a:lnTo>
                    <a:pt x="2926080" y="547864"/>
                  </a:lnTo>
                  <a:lnTo>
                    <a:pt x="0" y="547864"/>
                  </a:lnTo>
                  <a:close/>
                </a:path>
              </a:pathLst>
            </a:custGeom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2926080" cy="5764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5"/>
                </a:lnSpc>
              </a:pPr>
              <a:r>
                <a:rPr lang="en-US" sz="1278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666470" y="3376599"/>
            <a:ext cx="2382560" cy="49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THANK YOU 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753600" cy="7315200"/>
            <a:chOff x="0" y="0"/>
            <a:chExt cx="13004800" cy="9753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4800" cy="9753600"/>
            </a:xfrm>
            <a:custGeom>
              <a:avLst/>
              <a:gdLst/>
              <a:ahLst/>
              <a:cxnLst/>
              <a:rect l="l" t="t" r="r" b="b"/>
              <a:pathLst>
                <a:path w="13004800" h="97536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78498" y="131963"/>
            <a:ext cx="6347119" cy="887070"/>
            <a:chOff x="0" y="0"/>
            <a:chExt cx="8462825" cy="11827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62772" cy="1182751"/>
            </a:xfrm>
            <a:custGeom>
              <a:avLst/>
              <a:gdLst/>
              <a:ahLst/>
              <a:cxnLst/>
              <a:rect l="l" t="t" r="r" b="b"/>
              <a:pathLst>
                <a:path w="8462772" h="1182751">
                  <a:moveTo>
                    <a:pt x="0" y="0"/>
                  </a:moveTo>
                  <a:lnTo>
                    <a:pt x="8462772" y="0"/>
                  </a:lnTo>
                  <a:lnTo>
                    <a:pt x="8462772" y="1182751"/>
                  </a:lnTo>
                  <a:lnTo>
                    <a:pt x="0" y="1182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702" b="-770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73079" y="163056"/>
            <a:ext cx="5256595" cy="718400"/>
            <a:chOff x="0" y="0"/>
            <a:chExt cx="7008793" cy="9578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08793" cy="957866"/>
            </a:xfrm>
            <a:custGeom>
              <a:avLst/>
              <a:gdLst/>
              <a:ahLst/>
              <a:cxnLst/>
              <a:rect l="l" t="t" r="r" b="b"/>
              <a:pathLst>
                <a:path w="7008793" h="957866">
                  <a:moveTo>
                    <a:pt x="0" y="0"/>
                  </a:moveTo>
                  <a:lnTo>
                    <a:pt x="7008793" y="0"/>
                  </a:lnTo>
                  <a:lnTo>
                    <a:pt x="7008793" y="957866"/>
                  </a:lnTo>
                  <a:lnTo>
                    <a:pt x="0" y="957866"/>
                  </a:lnTo>
                  <a:close/>
                </a:path>
              </a:pathLst>
            </a:custGeom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7008793" cy="97691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764"/>
                </a:lnSpc>
              </a:pPr>
              <a:r>
                <a:rPr lang="en-US" sz="2558" b="1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MIT School of Computing</a:t>
              </a:r>
            </a:p>
            <a:p>
              <a:pPr algn="l">
                <a:lnSpc>
                  <a:spcPts val="1842"/>
                </a:lnSpc>
              </a:pPr>
              <a:r>
                <a:rPr lang="en-US" sz="1706" b="1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Department of Computer Science &amp; Engineering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33799" y="3453479"/>
            <a:ext cx="686000" cy="401098"/>
            <a:chOff x="0" y="0"/>
            <a:chExt cx="914667" cy="5347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667" cy="534797"/>
            </a:xfrm>
            <a:custGeom>
              <a:avLst/>
              <a:gdLst/>
              <a:ahLst/>
              <a:cxnLst/>
              <a:rect l="l" t="t" r="r" b="b"/>
              <a:pathLst>
                <a:path w="914667" h="534797">
                  <a:moveTo>
                    <a:pt x="0" y="0"/>
                  </a:moveTo>
                  <a:lnTo>
                    <a:pt x="914667" y="0"/>
                  </a:lnTo>
                  <a:lnTo>
                    <a:pt x="914667" y="534797"/>
                  </a:lnTo>
                  <a:lnTo>
                    <a:pt x="0" y="534797"/>
                  </a:lnTo>
                  <a:close/>
                </a:path>
              </a:pathLst>
            </a:custGeom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667" cy="5443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PLD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88480" y="6758677"/>
            <a:ext cx="2194560" cy="410898"/>
            <a:chOff x="0" y="0"/>
            <a:chExt cx="2926080" cy="5478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26080" cy="547864"/>
            </a:xfrm>
            <a:custGeom>
              <a:avLst/>
              <a:gdLst/>
              <a:ahLst/>
              <a:cxnLst/>
              <a:rect l="l" t="t" r="r" b="b"/>
              <a:pathLst>
                <a:path w="2926080" h="547864">
                  <a:moveTo>
                    <a:pt x="0" y="0"/>
                  </a:moveTo>
                  <a:lnTo>
                    <a:pt x="2926080" y="0"/>
                  </a:lnTo>
                  <a:lnTo>
                    <a:pt x="2926080" y="547864"/>
                  </a:lnTo>
                  <a:lnTo>
                    <a:pt x="0" y="547864"/>
                  </a:lnTo>
                  <a:close/>
                </a:path>
              </a:pathLst>
            </a:custGeom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2926080" cy="5764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5"/>
                </a:lnSpc>
              </a:pPr>
              <a:r>
                <a:rPr lang="en-US" sz="1278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666470" y="3376599"/>
            <a:ext cx="2382560" cy="49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1332</Words>
  <Application>Microsoft Office PowerPoint</Application>
  <PresentationFormat>Custom</PresentationFormat>
  <Paragraphs>240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 MT Pro Bold</vt:lpstr>
      <vt:lpstr>Calibri</vt:lpstr>
      <vt:lpstr>Times New Roman MT Bold</vt:lpstr>
      <vt:lpstr>Times New Roman MT</vt:lpstr>
      <vt:lpstr>Calibri (MS)</vt:lpstr>
      <vt:lpstr>Cambria</vt:lpstr>
      <vt:lpstr>Arial MT Pro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NLP pptx</dc:title>
  <dc:creator>shreyanshu maske</dc:creator>
  <cp:lastModifiedBy>shreyanshu maske</cp:lastModifiedBy>
  <cp:revision>2</cp:revision>
  <dcterms:created xsi:type="dcterms:W3CDTF">2006-08-16T00:00:00Z</dcterms:created>
  <dcterms:modified xsi:type="dcterms:W3CDTF">2026-09-01T08:46:13Z</dcterms:modified>
  <dc:identifier>DAGl2GgUAHk</dc:identifier>
</cp:coreProperties>
</file>